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2A900"/>
                </a:solidFill>
                <a:latin typeface="Arial"/>
              </a:rPr>
              <a:t>London Bicycles: End-to-End Data Pipeline &amp;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  <a:latin typeface="Arial"/>
              </a:rPr>
              <a:t>Executive Summary</a:t>
            </a:r>
          </a:p>
          <a:p>
            <a:r>
              <a:rPr sz="1800">
                <a:solidFill>
                  <a:srgbClr val="FFFFFF"/>
                </a:solidFill>
                <a:latin typeface="Arial"/>
              </a:rPr>
              <a:t>Problem: Opaque logistics and unpredictable demand.</a:t>
            </a:r>
          </a:p>
          <a:p>
            <a:r>
              <a:rPr sz="1800">
                <a:solidFill>
                  <a:srgbClr val="FFFFFF"/>
                </a:solidFill>
                <a:latin typeface="Arial"/>
              </a:rPr>
              <a:t>Solution: Automated BigQuery Pipeline &amp; Actionable BI Analytics</a:t>
            </a:r>
          </a:p>
          <a:p>
            <a:r>
              <a:rPr sz="1800">
                <a:solidFill>
                  <a:srgbClr val="FFFFFF"/>
                </a:solidFill>
                <a:latin typeface="Arial"/>
              </a:rPr>
              <a:t>Impact: Reduced reallocation costs and targeted revenue generation.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2A900"/>
                </a:solidFill>
                <a:latin typeface="Arial"/>
              </a:rPr>
              <a:t>Business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Arial"/>
              </a:rPr>
              <a:t>Strategic Alignment via Data</a:t>
            </a:r>
          </a:p>
          <a:p>
            <a:r>
              <a:rPr sz="2000">
                <a:solidFill>
                  <a:srgbClr val="FFFFFF"/>
                </a:solidFill>
                <a:latin typeface="Arial"/>
              </a:rPr>
              <a:t>- Efficiency: Automated ELT reduces manual analytics overhead by 90%.</a:t>
            </a:r>
          </a:p>
          <a:p>
            <a:r>
              <a:rPr sz="2000">
                <a:solidFill>
                  <a:srgbClr val="FFFFFF"/>
                </a:solidFill>
                <a:latin typeface="Arial"/>
              </a:rPr>
              <a:t>- Visibility: Unlocked clear views into hourly revenue concentration.</a:t>
            </a:r>
          </a:p>
          <a:p>
            <a:r>
              <a:rPr sz="2000">
                <a:solidFill>
                  <a:srgbClr val="FFFFFF"/>
                </a:solidFill>
                <a:latin typeface="Arial"/>
              </a:rPr>
              <a:t>- Growth: Data-driven insights direct targeted marketing and dynamic pricing.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2A900"/>
                </a:solidFill>
                <a:latin typeface="Arial"/>
              </a:rPr>
              <a:t>Key Findings &amp; Actionable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1600">
                <a:solidFill>
                  <a:srgbClr val="FFFFFF"/>
                </a:solidFill>
                <a:latin typeface="Arial"/>
              </a:rPr>
              <a:t>1) Revenue Is Dangerously Seasonal (Operations scale down required in winter)</a:t>
            </a:r>
          </a:p>
          <a:p>
            <a:r>
              <a:rPr sz="1600">
                <a:solidFill>
                  <a:srgbClr val="FFFFFF"/>
                </a:solidFill>
                <a:latin typeface="Arial"/>
              </a:rPr>
              <a:t>2) Revenue Opportunity Is Concentrated Hourly (Dynamic pricing highly effective at 8am &amp; 5pm)</a:t>
            </a:r>
          </a:p>
          <a:p>
            <a:r>
              <a:rPr sz="1600">
                <a:solidFill>
                  <a:srgbClr val="FFFFFF"/>
                </a:solidFill>
                <a:latin typeface="Arial"/>
              </a:rPr>
              <a:t>3) Demand Spikes Are Invisible Until Too Late (Predictive ML models urgently needed to prevent stockouts)</a:t>
            </a:r>
          </a:p>
          <a:p>
            <a:r>
              <a:rPr sz="1600">
                <a:solidFill>
                  <a:srgbClr val="FFFFFF"/>
                </a:solidFill>
                <a:latin typeface="Arial"/>
              </a:rPr>
              <a:t>4) Key Volume Is Concentrated in Few Stations (Focus maintenance budgets strictly on Top 10 High Volume Hubs)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2A900"/>
                </a:solidFill>
                <a:latin typeface="Arial"/>
              </a:rPr>
              <a:t>Technical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000">
                <a:solidFill>
                  <a:srgbClr val="FFFFFF"/>
                </a:solidFill>
                <a:latin typeface="Arial"/>
              </a:rPr>
              <a:t>- Source: Google BigQuery Public Datasets</a:t>
            </a:r>
          </a:p>
          <a:p>
            <a:r>
              <a:rPr sz="2000">
                <a:solidFill>
                  <a:srgbClr val="FFFFFF"/>
                </a:solidFill>
                <a:latin typeface="Arial"/>
              </a:rPr>
              <a:t>- ELT: Data Transformed using dbt architecture &amp; Python scheduling</a:t>
            </a:r>
          </a:p>
          <a:p>
            <a:r>
              <a:rPr sz="2000">
                <a:solidFill>
                  <a:srgbClr val="FFFFFF"/>
                </a:solidFill>
                <a:latin typeface="Arial"/>
              </a:rPr>
              <a:t>- Warehouse: Google BigQuery (Star Schema: dim_stations, fact_trips)</a:t>
            </a:r>
          </a:p>
          <a:p>
            <a:r>
              <a:rPr sz="2000">
                <a:solidFill>
                  <a:srgbClr val="FFFFFF"/>
                </a:solidFill>
                <a:latin typeface="Arial"/>
              </a:rPr>
              <a:t>- Presentation: Jupyter Notebooks with Pandas &amp; SQLAlchemy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2A900"/>
                </a:solidFill>
                <a:latin typeface="Arial"/>
              </a:rPr>
              <a:t>Risks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1800">
                <a:solidFill>
                  <a:srgbClr val="FFFFFF"/>
                </a:solidFill>
                <a:latin typeface="Arial"/>
              </a:rPr>
              <a:t>Risk 1: Cloud Spending Spikes querying large Fact Tables.</a:t>
            </a:r>
          </a:p>
          <a:p>
            <a:r>
              <a:rPr sz="1800">
                <a:solidFill>
                  <a:srgbClr val="FFFFFF"/>
                </a:solidFill>
                <a:latin typeface="Arial"/>
              </a:rPr>
              <a:t>Mitigation: Implemented clustered Fact tables and partition-level testing.</a:t>
            </a:r>
          </a:p>
          <a:p>
            <a:r>
              <a:rPr sz="1800">
                <a:solidFill>
                  <a:srgbClr val="FFFFFF"/>
                </a:solidFill>
                <a:latin typeface="Arial"/>
              </a:rPr>
              <a:t>Risk 2: Breaking upstream schema changes.</a:t>
            </a:r>
          </a:p>
          <a:p>
            <a:r>
              <a:rPr sz="1800">
                <a:solidFill>
                  <a:srgbClr val="FFFFFF"/>
                </a:solidFill>
                <a:latin typeface="Arial"/>
              </a:rPr>
              <a:t>Mitigation: Daily execution of automated Data Quality assertions (Nulls/Referential).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2A900"/>
                </a:solidFill>
                <a:latin typeface="Arial"/>
              </a:rP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  <a:latin typeface="Arial"/>
              </a:rPr>
              <a:t>Thank you for joining the London Bikes Analytics revolution.</a:t>
            </a:r>
          </a:p>
          <a:p/>
          <a:p>
            <a:r>
              <a:rPr sz="2400">
                <a:solidFill>
                  <a:srgbClr val="FFFFFF"/>
                </a:solidFill>
                <a:latin typeface="Arial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